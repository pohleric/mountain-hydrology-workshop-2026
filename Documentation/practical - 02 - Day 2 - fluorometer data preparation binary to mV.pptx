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94" r:id="rId4"/>
    <p:sldId id="257" r:id="rId5"/>
    <p:sldId id="260" r:id="rId6"/>
    <p:sldId id="258" r:id="rId7"/>
    <p:sldId id="261" r:id="rId8"/>
    <p:sldId id="295" r:id="rId9"/>
    <p:sldId id="296" r:id="rId10"/>
    <p:sldId id="297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97"/>
    <p:restoredTop sz="94694"/>
  </p:normalViewPr>
  <p:slideViewPr>
    <p:cSldViewPr snapToGrid="0">
      <p:cViewPr varScale="1">
        <p:scale>
          <a:sx n="87" d="100"/>
          <a:sy n="87" d="100"/>
        </p:scale>
        <p:origin x="20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AF5CD-681D-7CE7-4BD6-CB85BC998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E9D25-6726-46B8-6C0D-B05DED6E9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31B07-DDBC-D33D-205E-81969AE4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3274-732E-DE4C-77C9-B05D2DF48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B47A4-196F-710A-7972-6BC17836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4359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59CF-B73A-924A-A837-CAC1C45D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AAD-3BC2-2868-5F8A-5E06E0B7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E238-33DE-7B07-213C-C6C0DC0D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20BD0-1F3D-D1F3-4C00-7FAEBC45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97949-685A-EE7E-94D0-E4A801DD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2337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6182-522F-55B4-49F0-BDF3B2FC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622D6-229C-37BA-02D8-0A650280A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329D0-2552-04EE-3A4B-574FF5B58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B77F6-38A6-D317-3429-E3D4F2D3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C25F7-C4EC-9B8D-725A-5798DAD9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513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2CB7-312E-BD44-50EC-A5BFBD58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12CC-9D7C-E0CF-CF68-AFDF93759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D96C8-5DB7-8F08-F0BB-85C920692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4444D-058C-91E6-3B20-2E144E87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0B7E1-5FBB-7781-E2F7-B3ECF713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F696-1615-A399-BBBC-9B204058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1820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7FFC-3F52-E21B-A89F-BBC587F1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84B0B-F4E8-00E5-409D-8CC2DDE09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86F46-740C-8F8E-991B-FC024B046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29B99-793C-7531-94E7-978143BB9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BA746D-A66C-074C-1819-52A6B50E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24032-E245-68E1-D803-C1E0F4FD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E1299-C3D0-E12B-97F3-A20DEAA4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31A37-AA4B-0A4D-53DF-176B761A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8206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1805-1D7C-21B2-68FF-36E57469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A6E6B-7524-2E1D-62D8-A5F12A7D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47E29-C879-66D3-44B2-77FFFC69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111DF-6E59-9DDF-78D5-DCD7FD3C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850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B4BCBC-2975-08BD-D2B2-CCEC4C0C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1E737-8DB1-4058-D19D-744AC237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98FDC-6553-5B83-4B60-1C0886BE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8643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E744-9842-BD9C-AB23-729E77CA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EF497-86B1-3CD0-2EFC-670F7F59C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FBAE7-A62C-8B69-4BE1-C43779C59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2A816-AC6E-7735-F70B-1FEF7977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BC3DF-B1CD-AA5F-7EAE-27D07A4F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3BC43-9666-F45B-70F6-8B69FA4D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376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9203-D5CC-7C76-AAD5-33748C07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DE10AD-2300-8B39-8D3C-CCE21A8CA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CC584-87B8-07D1-3FCE-B4E1EBD3D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03282-C46A-8ABF-4AE6-34BB4407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60255-6982-EA6E-2C93-6939A9EC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0256C-804F-A1A7-6A14-A5D80905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410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0D4B-0910-B243-A348-B2AEA389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6A961-D421-7F23-0ED7-F8B23CDAE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63A2B-A1AC-ECA0-26B1-722584D93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AD871-7C47-E775-F3EA-EFDFB89F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79DF-006E-2C7A-19DF-EA34CEBB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122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E27B0-3D56-35E0-03DF-C040C5050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5D9ED-8788-D185-E676-E8B790DB5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BC68-CDF9-6067-04B1-5176FEC1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CDEC-55BE-0D1C-9BB8-896DDBDDE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504F6-9DB4-798A-E8DF-B2B13FA6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484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9979D-8C96-F1A3-7E74-6B6FEBE6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13197-AB01-C78D-1A6F-F26577F7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A492B-6C18-B8C0-5377-9D856C2AA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F6393-25CB-554C-AE85-02E0802B5708}" type="datetimeFigureOut">
              <a:rPr lang="en-CH" smtClean="0"/>
              <a:t>09.04.2026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E5552-624E-89B7-BAAA-067F43A8F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8FF-2F85-9E23-DB5E-AA719D567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F8C88-03C6-C24C-9DD8-95ABB6AA420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561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enkulab.io/p/eric.pohl/discharge-calculation-dilution-metho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nkulab.io/p/eric.pohl/discharge-calculation-dilution-metho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D722-AC01-8622-CA70-C957513D9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492" y="1122363"/>
            <a:ext cx="10339754" cy="2387600"/>
          </a:xfrm>
        </p:spPr>
        <p:txBody>
          <a:bodyPr>
            <a:normAutofit fontScale="90000"/>
          </a:bodyPr>
          <a:lstStyle/>
          <a:p>
            <a:r>
              <a:rPr lang="en-CH" dirty="0"/>
              <a:t>Data conversion – binary to text format (FL30)</a:t>
            </a:r>
            <a:br>
              <a:rPr lang="en-CH" dirty="0"/>
            </a:br>
            <a:endParaRPr lang="en-CH" sz="49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9AF05-94BB-B952-FF8D-4C15BBDCD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579" y="3602037"/>
            <a:ext cx="11130455" cy="2819783"/>
          </a:xfrm>
        </p:spPr>
        <p:txBody>
          <a:bodyPr>
            <a:normAutofit/>
          </a:bodyPr>
          <a:lstStyle/>
          <a:p>
            <a:r>
              <a:rPr lang="en-GB" dirty="0"/>
              <a:t>W</a:t>
            </a:r>
            <a:r>
              <a:rPr lang="en-CH" dirty="0"/>
              <a:t>ork through example on</a:t>
            </a:r>
          </a:p>
          <a:p>
            <a:r>
              <a:rPr lang="en-GB" dirty="0">
                <a:hlinkClick r:id="rId2"/>
              </a:rPr>
              <a:t>https://renkulab.io/p/eric.pohl/discharge-calculation-dilution-method</a:t>
            </a:r>
            <a:r>
              <a:rPr lang="en-GB" dirty="0"/>
              <a:t> </a:t>
            </a:r>
          </a:p>
          <a:p>
            <a:r>
              <a:rPr lang="en-GB" dirty="0"/>
              <a:t>In RStudio on </a:t>
            </a:r>
            <a:r>
              <a:rPr lang="en-GB" dirty="0" err="1"/>
              <a:t>renkulab.io</a:t>
            </a:r>
            <a:r>
              <a:rPr lang="en-GB" dirty="0"/>
              <a:t> (same workflow on your own computer)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857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C07AC-A5B5-416B-9301-D8B6A61C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4A9C5-8A81-4000-88BD-F91D0B461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125"/>
          <a:stretch>
            <a:fillRect/>
          </a:stretch>
        </p:blipFill>
        <p:spPr>
          <a:xfrm>
            <a:off x="239713" y="144123"/>
            <a:ext cx="4432300" cy="1040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D19AAC-3BCB-6969-56FB-B031D9533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3" y="1692954"/>
            <a:ext cx="5069201" cy="5020923"/>
          </a:xfrm>
          <a:prstGeom prst="rect">
            <a:avLst/>
          </a:prstGeom>
        </p:spPr>
      </p:pic>
      <p:sp>
        <p:nvSpPr>
          <p:cNvPr id="6" name="Up Arrow 5">
            <a:extLst>
              <a:ext uri="{FF2B5EF4-FFF2-40B4-BE49-F238E27FC236}">
                <a16:creationId xmlns:a16="http://schemas.microsoft.com/office/drawing/2014/main" id="{67676B07-01E9-C76F-8778-D7698E46139A}"/>
              </a:ext>
            </a:extLst>
          </p:cNvPr>
          <p:cNvSpPr/>
          <p:nvPr/>
        </p:nvSpPr>
        <p:spPr>
          <a:xfrm rot="16200000">
            <a:off x="3131501" y="135788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84A0B-E336-FC76-8378-1CC25408B7FA}"/>
              </a:ext>
            </a:extLst>
          </p:cNvPr>
          <p:cNvSpPr/>
          <p:nvPr/>
        </p:nvSpPr>
        <p:spPr>
          <a:xfrm>
            <a:off x="3831589" y="209395"/>
            <a:ext cx="5600700" cy="11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On the SD-card of the fluorometer are 3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</a:t>
            </a:r>
            <a:r>
              <a:rPr lang="en-CH" dirty="0"/>
              <a:t>al.dat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Calibrat.dat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f</a:t>
            </a:r>
            <a:r>
              <a:rPr lang="en-CH" dirty="0">
                <a:solidFill>
                  <a:srgbClr val="C00000"/>
                </a:solidFill>
              </a:rPr>
              <a:t>XXXX</a:t>
            </a:r>
            <a:r>
              <a:rPr lang="en-CH" dirty="0"/>
              <a:t>.txt  (</a:t>
            </a:r>
            <a:r>
              <a:rPr lang="en-CH" dirty="0">
                <a:solidFill>
                  <a:srgbClr val="C00000"/>
                </a:solidFill>
              </a:rPr>
              <a:t>XXXX</a:t>
            </a:r>
            <a:r>
              <a:rPr lang="en-CH" dirty="0"/>
              <a:t> is the serial number of the logger)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85106-38BD-7043-E021-13221F0425E4}"/>
              </a:ext>
            </a:extLst>
          </p:cNvPr>
          <p:cNvSpPr/>
          <p:nvPr/>
        </p:nvSpPr>
        <p:spPr>
          <a:xfrm>
            <a:off x="5470352" y="3813670"/>
            <a:ext cx="4304605" cy="24845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call each year’s file according to the</a:t>
            </a:r>
          </a:p>
          <a:p>
            <a:pPr marL="285750" indent="-285750">
              <a:buFontTx/>
              <a:buChar char="-"/>
            </a:pPr>
            <a:r>
              <a:rPr lang="en-US" dirty="0"/>
              <a:t>Year, e.g. 2022</a:t>
            </a:r>
          </a:p>
          <a:p>
            <a:pPr marL="285750" indent="-285750">
              <a:buFontTx/>
              <a:buChar char="-"/>
            </a:pPr>
            <a:r>
              <a:rPr lang="en-US" dirty="0"/>
              <a:t>Logger number, e.g. f1664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“2022 - f1664.txt”</a:t>
            </a: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 files need to be converted …</a:t>
            </a:r>
            <a:endParaRPr lang="en-CH" dirty="0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D8F0FA83-375F-C0F7-DDF3-C11594B5CC0D}"/>
              </a:ext>
            </a:extLst>
          </p:cNvPr>
          <p:cNvSpPr/>
          <p:nvPr/>
        </p:nvSpPr>
        <p:spPr>
          <a:xfrm rot="16520643">
            <a:off x="3500501" y="1727319"/>
            <a:ext cx="64303" cy="39048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EFE0BCE8-3432-049F-7F56-A1EE5F7C3BAA}"/>
              </a:ext>
            </a:extLst>
          </p:cNvPr>
          <p:cNvSpPr/>
          <p:nvPr/>
        </p:nvSpPr>
        <p:spPr>
          <a:xfrm rot="16520643">
            <a:off x="3512024" y="2481292"/>
            <a:ext cx="64303" cy="39048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ECEB41DE-5B03-A878-8CE9-17EBB35574FB}"/>
              </a:ext>
            </a:extLst>
          </p:cNvPr>
          <p:cNvSpPr/>
          <p:nvPr/>
        </p:nvSpPr>
        <p:spPr>
          <a:xfrm rot="16520643">
            <a:off x="3512025" y="3203370"/>
            <a:ext cx="64303" cy="39048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7DDF25A5-5542-DC33-BC41-E72196639218}"/>
              </a:ext>
            </a:extLst>
          </p:cNvPr>
          <p:cNvSpPr/>
          <p:nvPr/>
        </p:nvSpPr>
        <p:spPr>
          <a:xfrm rot="16520643">
            <a:off x="3491288" y="3925446"/>
            <a:ext cx="64303" cy="39048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7387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8B4C61-7870-B6E3-1679-F7CF1CD6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3" y="251132"/>
            <a:ext cx="6946900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CD7E61-CAFD-3F50-54D3-65262573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53" y="3584269"/>
            <a:ext cx="5410200" cy="2971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E4623B-EE64-FF47-B489-C564545AD2C7}"/>
              </a:ext>
            </a:extLst>
          </p:cNvPr>
          <p:cNvSpPr/>
          <p:nvPr/>
        </p:nvSpPr>
        <p:spPr>
          <a:xfrm>
            <a:off x="7756804" y="1535330"/>
            <a:ext cx="2375338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Before conversion</a:t>
            </a:r>
          </a:p>
          <a:p>
            <a:pPr algn="ctr"/>
            <a:r>
              <a:rPr lang="en-CH" dirty="0"/>
              <a:t>(binary format)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391CC-E238-505A-4A8C-C7E80C57A537}"/>
              </a:ext>
            </a:extLst>
          </p:cNvPr>
          <p:cNvSpPr/>
          <p:nvPr/>
        </p:nvSpPr>
        <p:spPr>
          <a:xfrm>
            <a:off x="7756804" y="4802408"/>
            <a:ext cx="2375338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After conversion</a:t>
            </a:r>
          </a:p>
        </p:txBody>
      </p:sp>
    </p:spTree>
    <p:extLst>
      <p:ext uri="{BB962C8B-B14F-4D97-AF65-F5344CB8AC3E}">
        <p14:creationId xmlns:p14="http://schemas.microsoft.com/office/powerpoint/2010/main" val="300470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B43032D-8C58-B242-C50D-006BB261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14" y="800100"/>
            <a:ext cx="9336086" cy="5894754"/>
          </a:xfrm>
          <a:prstGeom prst="rect">
            <a:avLst/>
          </a:prstGeom>
        </p:spPr>
      </p:pic>
      <p:sp>
        <p:nvSpPr>
          <p:cNvPr id="11" name="Up Arrow 10">
            <a:extLst>
              <a:ext uri="{FF2B5EF4-FFF2-40B4-BE49-F238E27FC236}">
                <a16:creationId xmlns:a16="http://schemas.microsoft.com/office/drawing/2014/main" id="{523A6295-FF80-A764-082F-08DB20C1744B}"/>
              </a:ext>
            </a:extLst>
          </p:cNvPr>
          <p:cNvSpPr/>
          <p:nvPr/>
        </p:nvSpPr>
        <p:spPr>
          <a:xfrm rot="4807366">
            <a:off x="6798678" y="5529262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EBC2E-E829-6C50-322E-B6D456A0B5BE}"/>
              </a:ext>
            </a:extLst>
          </p:cNvPr>
          <p:cNvSpPr txBox="1"/>
          <p:nvPr/>
        </p:nvSpPr>
        <p:spPr>
          <a:xfrm>
            <a:off x="928359" y="78855"/>
            <a:ext cx="9109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https://renkulab.io/p/eric.pohl/discharge-calculation-dilution-method</a:t>
            </a:r>
            <a:r>
              <a:rPr lang="en-GB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7DA76-5EF5-03A7-9257-06F6CCBC4879}"/>
              </a:ext>
            </a:extLst>
          </p:cNvPr>
          <p:cNvSpPr/>
          <p:nvPr/>
        </p:nvSpPr>
        <p:spPr>
          <a:xfrm>
            <a:off x="8597462" y="5738621"/>
            <a:ext cx="2375338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Takes around 2 minutes to open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4FDC4-80B2-D189-7D15-2E7E71B07D65}"/>
              </a:ext>
            </a:extLst>
          </p:cNvPr>
          <p:cNvSpPr/>
          <p:nvPr/>
        </p:nvSpPr>
        <p:spPr>
          <a:xfrm>
            <a:off x="5481531" y="5894498"/>
            <a:ext cx="1100424" cy="465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5468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DE7C-4714-C969-E33E-448C0922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04CB46-9E6B-1C96-6CF7-561C0DBEC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62" y="954112"/>
            <a:ext cx="9817961" cy="4949776"/>
          </a:xfrm>
          <a:prstGeom prst="rect">
            <a:avLst/>
          </a:prstGeom>
        </p:spPr>
      </p:pic>
      <p:sp>
        <p:nvSpPr>
          <p:cNvPr id="6" name="Up Arrow 5">
            <a:extLst>
              <a:ext uri="{FF2B5EF4-FFF2-40B4-BE49-F238E27FC236}">
                <a16:creationId xmlns:a16="http://schemas.microsoft.com/office/drawing/2014/main" id="{07B60E19-8FB3-654B-5B0C-5220E6B4A5B6}"/>
              </a:ext>
            </a:extLst>
          </p:cNvPr>
          <p:cNvSpPr/>
          <p:nvPr/>
        </p:nvSpPr>
        <p:spPr>
          <a:xfrm>
            <a:off x="6096000" y="4953876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5A08D-5B17-D1C9-5658-7A44785FC9BC}"/>
              </a:ext>
            </a:extLst>
          </p:cNvPr>
          <p:cNvSpPr/>
          <p:nvPr/>
        </p:nvSpPr>
        <p:spPr>
          <a:xfrm>
            <a:off x="6642538" y="5482513"/>
            <a:ext cx="2375338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click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305D3-259A-19F6-F0BD-A53B77AE553F}"/>
              </a:ext>
            </a:extLst>
          </p:cNvPr>
          <p:cNvSpPr txBox="1"/>
          <p:nvPr/>
        </p:nvSpPr>
        <p:spPr>
          <a:xfrm>
            <a:off x="468507" y="-4209"/>
            <a:ext cx="1125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Opening the program. Directory: </a:t>
            </a:r>
            <a:r>
              <a:rPr lang="en-CH" b="1" dirty="0"/>
              <a:t>work</a:t>
            </a:r>
            <a:r>
              <a:rPr lang="en-GB" b="1" dirty="0"/>
              <a:t>/CA-</a:t>
            </a:r>
            <a:r>
              <a:rPr lang="en-GB" b="1" dirty="0" err="1"/>
              <a:t>hydroworkshop</a:t>
            </a:r>
            <a:r>
              <a:rPr lang="en-GB" b="1" dirty="0"/>
              <a:t>/materials/Fluorometer/KG_G354/R/003_Qcalc.R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59223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8044B-87E4-07FD-AB2A-66F542ED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85C5DE-C35E-7334-9170-CEFB55F59F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547"/>
          <a:stretch>
            <a:fillRect/>
          </a:stretch>
        </p:blipFill>
        <p:spPr>
          <a:xfrm>
            <a:off x="4763666" y="4092933"/>
            <a:ext cx="3801576" cy="2316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53D283-4527-D82F-552E-91372522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5A08F681-62B9-2E3F-FD15-2878D69BFA8F}"/>
              </a:ext>
            </a:extLst>
          </p:cNvPr>
          <p:cNvSpPr/>
          <p:nvPr/>
        </p:nvSpPr>
        <p:spPr>
          <a:xfrm>
            <a:off x="1512833" y="2503306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9DD8E9-4297-4FF6-ED70-E262BAD67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556" y="365125"/>
            <a:ext cx="3883134" cy="21381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58F226-567B-D7CF-3A23-1E5A80E28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559" y="365124"/>
            <a:ext cx="3103399" cy="2316413"/>
          </a:xfrm>
          <a:prstGeom prst="rect">
            <a:avLst/>
          </a:prstGeom>
        </p:spPr>
      </p:pic>
      <p:sp>
        <p:nvSpPr>
          <p:cNvPr id="11" name="Up Arrow 10">
            <a:extLst>
              <a:ext uri="{FF2B5EF4-FFF2-40B4-BE49-F238E27FC236}">
                <a16:creationId xmlns:a16="http://schemas.microsoft.com/office/drawing/2014/main" id="{5331495A-D775-F36E-0C1C-1791E9CAA302}"/>
              </a:ext>
            </a:extLst>
          </p:cNvPr>
          <p:cNvSpPr/>
          <p:nvPr/>
        </p:nvSpPr>
        <p:spPr>
          <a:xfrm>
            <a:off x="5051753" y="2371725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358F39-BCE5-71E3-A24A-54CAD280D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088" y="440094"/>
            <a:ext cx="3279148" cy="2241443"/>
          </a:xfrm>
          <a:prstGeom prst="rect">
            <a:avLst/>
          </a:prstGeom>
        </p:spPr>
      </p:pic>
      <p:sp>
        <p:nvSpPr>
          <p:cNvPr id="14" name="Up Arrow 13">
            <a:extLst>
              <a:ext uri="{FF2B5EF4-FFF2-40B4-BE49-F238E27FC236}">
                <a16:creationId xmlns:a16="http://schemas.microsoft.com/office/drawing/2014/main" id="{7749CC50-309F-A26D-F343-1FEAE6FA74E8}"/>
              </a:ext>
            </a:extLst>
          </p:cNvPr>
          <p:cNvSpPr/>
          <p:nvPr/>
        </p:nvSpPr>
        <p:spPr>
          <a:xfrm>
            <a:off x="8725725" y="2227868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952CA6-F3AE-5299-46A5-C9BD45A6D2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07" y="4354695"/>
            <a:ext cx="3722783" cy="719174"/>
          </a:xfrm>
          <a:prstGeom prst="rect">
            <a:avLst/>
          </a:prstGeom>
        </p:spPr>
      </p:pic>
      <p:sp>
        <p:nvSpPr>
          <p:cNvPr id="17" name="Up Arrow 16">
            <a:extLst>
              <a:ext uri="{FF2B5EF4-FFF2-40B4-BE49-F238E27FC236}">
                <a16:creationId xmlns:a16="http://schemas.microsoft.com/office/drawing/2014/main" id="{B113AFA7-2326-A0B1-9242-D57D019504C9}"/>
              </a:ext>
            </a:extLst>
          </p:cNvPr>
          <p:cNvSpPr/>
          <p:nvPr/>
        </p:nvSpPr>
        <p:spPr>
          <a:xfrm>
            <a:off x="1169933" y="5199210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Up Arrow 19">
            <a:extLst>
              <a:ext uri="{FF2B5EF4-FFF2-40B4-BE49-F238E27FC236}">
                <a16:creationId xmlns:a16="http://schemas.microsoft.com/office/drawing/2014/main" id="{C7AF1ACC-80B0-9552-3895-FAE6340B1680}"/>
              </a:ext>
            </a:extLst>
          </p:cNvPr>
          <p:cNvSpPr/>
          <p:nvPr/>
        </p:nvSpPr>
        <p:spPr>
          <a:xfrm>
            <a:off x="5394653" y="5727847"/>
            <a:ext cx="342900" cy="10572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1B4DF3-DB30-C51F-5DDA-A8BE770BEC9C}"/>
              </a:ext>
            </a:extLst>
          </p:cNvPr>
          <p:cNvSpPr/>
          <p:nvPr/>
        </p:nvSpPr>
        <p:spPr>
          <a:xfrm>
            <a:off x="8925821" y="4033345"/>
            <a:ext cx="2375338" cy="1040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CH" dirty="0"/>
              <a:t>lick, click, click 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E6F755-76D3-C441-9E58-1F87F09B0087}"/>
              </a:ext>
            </a:extLst>
          </p:cNvPr>
          <p:cNvSpPr/>
          <p:nvPr/>
        </p:nvSpPr>
        <p:spPr>
          <a:xfrm>
            <a:off x="1995323" y="3301287"/>
            <a:ext cx="437604" cy="32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CH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F5B8F-0482-AF45-DDB2-19291B4E1EE7}"/>
              </a:ext>
            </a:extLst>
          </p:cNvPr>
          <p:cNvSpPr/>
          <p:nvPr/>
        </p:nvSpPr>
        <p:spPr>
          <a:xfrm>
            <a:off x="5518260" y="3317068"/>
            <a:ext cx="437604" cy="32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CH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7ED21E-49BE-3394-202F-6ED8781EF3B1}"/>
              </a:ext>
            </a:extLst>
          </p:cNvPr>
          <p:cNvSpPr/>
          <p:nvPr/>
        </p:nvSpPr>
        <p:spPr>
          <a:xfrm>
            <a:off x="9357819" y="3317068"/>
            <a:ext cx="437604" cy="32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CH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D06CB7-3705-23CC-F7E5-3ADFCE279020}"/>
              </a:ext>
            </a:extLst>
          </p:cNvPr>
          <p:cNvSpPr/>
          <p:nvPr/>
        </p:nvSpPr>
        <p:spPr>
          <a:xfrm>
            <a:off x="1557719" y="6226792"/>
            <a:ext cx="437604" cy="32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CH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FE20ED-04BE-D6F1-CB15-9C3E98FA989F}"/>
              </a:ext>
            </a:extLst>
          </p:cNvPr>
          <p:cNvSpPr/>
          <p:nvPr/>
        </p:nvSpPr>
        <p:spPr>
          <a:xfrm>
            <a:off x="5877143" y="6277950"/>
            <a:ext cx="437604" cy="32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CH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7D4946-6D69-7679-FEF5-971219501517}"/>
              </a:ext>
            </a:extLst>
          </p:cNvPr>
          <p:cNvSpPr txBox="1"/>
          <p:nvPr/>
        </p:nvSpPr>
        <p:spPr>
          <a:xfrm>
            <a:off x="468507" y="-4209"/>
            <a:ext cx="11226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Opening the program. Directory: </a:t>
            </a:r>
            <a:r>
              <a:rPr lang="en-CH" b="1" dirty="0"/>
              <a:t>work</a:t>
            </a:r>
            <a:r>
              <a:rPr lang="en-GB" b="1" dirty="0"/>
              <a:t>/CA-</a:t>
            </a:r>
            <a:r>
              <a:rPr lang="en-GB" b="1" dirty="0" err="1"/>
              <a:t>hydroworkshop</a:t>
            </a:r>
            <a:r>
              <a:rPr lang="en-GB" b="1" dirty="0"/>
              <a:t>/materials/Fluorometer/KG_G354/R/001_prep….R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565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1D58-DB4C-4836-5D4D-5041854E1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816ADA-2A9D-6E9F-BE32-D417D21CD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0151"/>
            <a:ext cx="7772400" cy="45414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81A0995-7110-3AD2-7852-CAF491E03FD8}"/>
              </a:ext>
            </a:extLst>
          </p:cNvPr>
          <p:cNvSpPr/>
          <p:nvPr/>
        </p:nvSpPr>
        <p:spPr>
          <a:xfrm>
            <a:off x="961205" y="662863"/>
            <a:ext cx="5600700" cy="11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This is the conversion “script” (program)</a:t>
            </a:r>
          </a:p>
        </p:txBody>
      </p:sp>
    </p:spTree>
    <p:extLst>
      <p:ext uri="{BB962C8B-B14F-4D97-AF65-F5344CB8AC3E}">
        <p14:creationId xmlns:p14="http://schemas.microsoft.com/office/powerpoint/2010/main" val="294672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EE9B-FC57-78D7-7AEB-AB57D751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EF2B98-8AF0-C2DC-52CF-2D45BCE7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7525"/>
            <a:ext cx="7772400" cy="45414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CD0B292-AA08-4CDE-3A12-BA0640DEA10D}"/>
              </a:ext>
            </a:extLst>
          </p:cNvPr>
          <p:cNvSpPr/>
          <p:nvPr/>
        </p:nvSpPr>
        <p:spPr>
          <a:xfrm>
            <a:off x="961205" y="662863"/>
            <a:ext cx="5600700" cy="1157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This is the conversion “script” (program)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D8D89F-7C91-6B26-9012-0E015139B7A6}"/>
              </a:ext>
            </a:extLst>
          </p:cNvPr>
          <p:cNvSpPr/>
          <p:nvPr/>
        </p:nvSpPr>
        <p:spPr>
          <a:xfrm>
            <a:off x="6096000" y="5737937"/>
            <a:ext cx="5896303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That’s it. You don’t need to change anything else!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DFA4B7-1189-EE47-04D0-8B7F8E452B2B}"/>
              </a:ext>
            </a:extLst>
          </p:cNvPr>
          <p:cNvSpPr/>
          <p:nvPr/>
        </p:nvSpPr>
        <p:spPr>
          <a:xfrm>
            <a:off x="5291650" y="3569109"/>
            <a:ext cx="6900350" cy="1622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The program is designed that you only have to change very few things!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These things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Define the input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Define the output name</a:t>
            </a:r>
          </a:p>
          <a:p>
            <a:endParaRPr lang="en-CH" sz="1600" dirty="0">
              <a:solidFill>
                <a:schemeClr val="bg1"/>
              </a:solidFill>
            </a:endParaRP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30D70469-7722-D6E1-0989-D3D9045D7584}"/>
              </a:ext>
            </a:extLst>
          </p:cNvPr>
          <p:cNvSpPr/>
          <p:nvPr/>
        </p:nvSpPr>
        <p:spPr>
          <a:xfrm rot="16200000">
            <a:off x="4002499" y="3459828"/>
            <a:ext cx="204413" cy="2373892"/>
          </a:xfrm>
          <a:prstGeom prst="upArrow">
            <a:avLst>
              <a:gd name="adj1" fmla="val 19348"/>
              <a:gd name="adj2" fmla="val 53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5" name="Up Arrow 24">
            <a:extLst>
              <a:ext uri="{FF2B5EF4-FFF2-40B4-BE49-F238E27FC236}">
                <a16:creationId xmlns:a16="http://schemas.microsoft.com/office/drawing/2014/main" id="{A51E4BBC-6F88-DD66-F965-F5A2052EBAF0}"/>
              </a:ext>
            </a:extLst>
          </p:cNvPr>
          <p:cNvSpPr/>
          <p:nvPr/>
        </p:nvSpPr>
        <p:spPr>
          <a:xfrm rot="16200000">
            <a:off x="4002499" y="3805790"/>
            <a:ext cx="204413" cy="2373892"/>
          </a:xfrm>
          <a:prstGeom prst="upArrow">
            <a:avLst>
              <a:gd name="adj1" fmla="val 19348"/>
              <a:gd name="adj2" fmla="val 53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1906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3B47B-BC06-4F23-857E-7EB6B037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781"/>
            <a:ext cx="6784258" cy="29855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2A380-82CB-83B3-658D-05F6C4439185}"/>
              </a:ext>
            </a:extLst>
          </p:cNvPr>
          <p:cNvSpPr/>
          <p:nvPr/>
        </p:nvSpPr>
        <p:spPr>
          <a:xfrm>
            <a:off x="6518818" y="1013962"/>
            <a:ext cx="5295274" cy="321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Scroll down to where it says: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“# ------------ NO NEED TO CHANGE ANYTHING HEREAFTER ---------------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Click into this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line by line [Ctrl]+[Enter]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You will see graphs produced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 will write the mV output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6B9ACBB5-5FA0-D234-F586-59145E19E4D3}"/>
              </a:ext>
            </a:extLst>
          </p:cNvPr>
          <p:cNvSpPr/>
          <p:nvPr/>
        </p:nvSpPr>
        <p:spPr>
          <a:xfrm rot="16200000">
            <a:off x="4983763" y="780441"/>
            <a:ext cx="196934" cy="2873176"/>
          </a:xfrm>
          <a:prstGeom prst="upArrow">
            <a:avLst>
              <a:gd name="adj1" fmla="val 19348"/>
              <a:gd name="adj2" fmla="val 53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E6C0E0AC-8D5D-8C19-1F48-09B728B848A1}"/>
              </a:ext>
            </a:extLst>
          </p:cNvPr>
          <p:cNvSpPr/>
          <p:nvPr/>
        </p:nvSpPr>
        <p:spPr>
          <a:xfrm rot="15474831">
            <a:off x="5454225" y="1903543"/>
            <a:ext cx="206670" cy="2090226"/>
          </a:xfrm>
          <a:prstGeom prst="upArrow">
            <a:avLst>
              <a:gd name="adj1" fmla="val 19348"/>
              <a:gd name="adj2" fmla="val 53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E0526724-D17A-FE9B-A7E2-EE71B4652137}"/>
              </a:ext>
            </a:extLst>
          </p:cNvPr>
          <p:cNvSpPr/>
          <p:nvPr/>
        </p:nvSpPr>
        <p:spPr>
          <a:xfrm rot="15551490">
            <a:off x="5714897" y="2865719"/>
            <a:ext cx="183493" cy="1438061"/>
          </a:xfrm>
          <a:prstGeom prst="upArrow">
            <a:avLst>
              <a:gd name="adj1" fmla="val 19348"/>
              <a:gd name="adj2" fmla="val 530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76483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C727-3253-665D-BF6E-1092C5D6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AEDE4-93D5-3F4F-6060-726AED6DA4B4}"/>
              </a:ext>
            </a:extLst>
          </p:cNvPr>
          <p:cNvSpPr/>
          <p:nvPr/>
        </p:nvSpPr>
        <p:spPr>
          <a:xfrm>
            <a:off x="446139" y="208181"/>
            <a:ext cx="3165231" cy="13364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Possible issues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3A3C0D-A557-2FB8-5D77-9DCE23A98C4D}"/>
              </a:ext>
            </a:extLst>
          </p:cNvPr>
          <p:cNvSpPr/>
          <p:nvPr/>
        </p:nvSpPr>
        <p:spPr>
          <a:xfrm>
            <a:off x="4468761" y="3165900"/>
            <a:ext cx="6568551" cy="321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Corrupt file from the FL30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 Error when running the script/program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Solution: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Read error message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It will say where in the original file the error occurs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Remove the line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Try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Switched interval (e.g. from 2 seconds to 30 seconds)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 Error when running the script/program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Solution: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Cut out (delete) the part; this part will look different in the original file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30CD9-2798-4E46-EDB4-37CF499C3E6E}"/>
              </a:ext>
            </a:extLst>
          </p:cNvPr>
          <p:cNvSpPr/>
          <p:nvPr/>
        </p:nvSpPr>
        <p:spPr>
          <a:xfrm>
            <a:off x="4468760" y="208181"/>
            <a:ext cx="6568551" cy="2594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Prepare the original input file: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Check the dates and remove all lines that are not from the measuring period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Some loggers have a wrong date (usually maximum a few days off)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Start from the last entry (check with your filed notebook when the last measurement was made)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Identify the date and time offset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 that information to remove non-relevant data entries</a:t>
            </a:r>
          </a:p>
        </p:txBody>
      </p:sp>
    </p:spTree>
    <p:extLst>
      <p:ext uri="{BB962C8B-B14F-4D97-AF65-F5344CB8AC3E}">
        <p14:creationId xmlns:p14="http://schemas.microsoft.com/office/powerpoint/2010/main" val="366796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442</Words>
  <Application>Microsoft Macintosh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Data conversion – binary to text format (FL30)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POHL Eric</dc:creator>
  <cp:lastModifiedBy>POHL Eric</cp:lastModifiedBy>
  <cp:revision>13</cp:revision>
  <dcterms:created xsi:type="dcterms:W3CDTF">2026-04-08T20:53:55Z</dcterms:created>
  <dcterms:modified xsi:type="dcterms:W3CDTF">2026-04-09T17:55:39Z</dcterms:modified>
</cp:coreProperties>
</file>